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5E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4DF-4DDF-8430-3BF6D24D92DC}"/>
              </c:ext>
            </c:extLst>
          </c:dPt>
          <c:dPt>
            <c:idx val="1"/>
            <c:bubble3D val="0"/>
            <c:spPr>
              <a:solidFill>
                <a:srgbClr val="FF6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DF-4DDF-8430-3BF6D24D92DC}"/>
              </c:ext>
            </c:extLst>
          </c:dPt>
          <c:dPt>
            <c:idx val="2"/>
            <c:bubble3D val="0"/>
            <c:spPr>
              <a:solidFill>
                <a:srgbClr val="0097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DF-4DDF-8430-3BF6D24D92DC}"/>
              </c:ext>
            </c:extLst>
          </c:dPt>
          <c:dPt>
            <c:idx val="3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4DF-4DDF-8430-3BF6D24D92D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DF-4DDF-8430-3BF6D24D92D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4DF-4DDF-8430-3BF6D24D92D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4DF-4DDF-8430-3BF6D24D92D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4DF-4DDF-8430-3BF6D24D92D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Loyal (549)</c:v>
                </c:pt>
                <c:pt idx="1">
                  <c:v>At-Risk (387)</c:v>
                </c:pt>
                <c:pt idx="2">
                  <c:v>Standard (377)</c:v>
                </c:pt>
                <c:pt idx="3">
                  <c:v>Dormant (96)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549</c:v>
                </c:pt>
                <c:pt idx="1">
                  <c:v>387</c:v>
                </c:pt>
                <c:pt idx="2">
                  <c:v>377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4DF-4DDF-8430-3BF6D24D92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069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400" dirty="0">
                <a:solidFill>
                  <a:srgbClr val="FFFFFF"/>
                </a:solidFill>
              </a:rPr>
              <a:t>TELECOM ANALYTICS  ·  2026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0972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Customer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Engine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 Segmentation &amp; Proactive Retention Workflows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Cost-Sensitive Machine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PROJECT ABSTRACT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005840"/>
            <a:ext cx="731520" cy="73152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69748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costs in telecom are 5× higher than retention values. Waiting for historical churn data leaves zero room for proactive defense.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91440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1005840"/>
            <a:ext cx="731520" cy="7315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0972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269748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 parsing 7,043 historical IBM subscriber portfolios across 20 distinct account features.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91440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0" y="1005840"/>
            <a:ext cx="731520" cy="73152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0972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Imbalance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0800" y="269748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ML models optimize for raw accuracy, ignoring minority churners. We implemented Balanced Subsampling Constraints for high churn sensitivity.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METHODOLOGY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122636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051560"/>
            <a:ext cx="731520" cy="7315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87168"/>
            <a:ext cx="1828800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and resolved empty text strings within TotalCharges continuous billing logs using target feature median imputation.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122636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051560"/>
            <a:ext cx="731520" cy="7315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03320" y="2487168"/>
            <a:ext cx="1828800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6060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categorical string variables into structured binary indicators using one-hot encoding schemas.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122636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051560"/>
            <a:ext cx="731520" cy="7315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75120" y="2487168"/>
            <a:ext cx="1828800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6060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stratified 80/20 validation train-test split to strictly preserve churn event distributions across evaluation metrics.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 DIAGNOSTICS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332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76.79%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423160" y="116128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039112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1226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22402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 Rate (Class 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118104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19125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23160" y="33192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Departures Identified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88536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20" y="422452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flight risks caught before cancellation — preserving core enterprise revenue.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0" y="868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Confusion Matrix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A6A9F5F-DA05-CCDE-D52B-5F02B7FBE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619" y="1161288"/>
            <a:ext cx="4191621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— TOP CHURN DRIVERS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623560" y="96012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122636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1051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60720" y="139903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highest Gini importance. Removes exit friction, accelerating subscriber volatility.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623560" y="2313432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122636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4048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Digital Add-ons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5234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Security or Tech Support strongly correlates with elevated churn probability.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23560" y="3666744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122636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375818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Shock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60720" y="410565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MonthlyCharges act as the primary financial attrition trigger in early-tenure accounts.</a:t>
            </a:r>
            <a:endParaRPr lang="en-US" sz="11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0685919-EC45-C52D-18C0-4E22A7C18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02" y="960120"/>
            <a:ext cx="519573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CUSTOMER SEGMENTATION MAPPINGS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</a:rPr>
              <a:t>Our probability routing engine parsed the active testing ledger into concrete operational portfolios: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234440"/>
          <a:ext cx="3931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343400" y="1261872"/>
            <a:ext cx="4572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407408" y="1353312"/>
            <a:ext cx="621792" cy="6217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1417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38928" y="1353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Loyal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37960" y="1353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7D32"/>
                </a:solidFill>
              </a:rPr>
              <a:t>549 accounts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138928" y="16642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High tenure, low-probability secure customer assets.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43400" y="2194560"/>
            <a:ext cx="4572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07408" y="2286000"/>
            <a:ext cx="621792" cy="621792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704" y="235000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38928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At-Risk ⚠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53796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F00"/>
                </a:solidFill>
              </a:rPr>
              <a:t>387 accounts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138928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Churn probability ≥60%. High-priority targets for marketing interventions.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343400" y="3127248"/>
            <a:ext cx="4572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407408" y="3218688"/>
            <a:ext cx="621792" cy="62179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704" y="3282696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38928" y="32186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Standard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537960" y="3218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97A7"/>
                </a:solidFill>
              </a:rPr>
              <a:t>377 accounts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138928" y="35295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Stable customers running within typical lifecycle cycles.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4059936"/>
            <a:ext cx="4572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07408" y="4151376"/>
            <a:ext cx="621792" cy="62179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9704" y="4215384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38928" y="4151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Dormant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537960" y="41513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46E7A"/>
                </a:solidFill>
              </a:rPr>
              <a:t>96 accounts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138928" y="4462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Low active usage with early life-cycle tenure states.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STRATEGIC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122636"/>
          </a:solidFill>
          <a:ln w="19050">
            <a:solidFill>
              <a:srgbClr val="FF6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713232" cy="713232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25880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14300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Optimization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517904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 automated campaign offering a 5% bill credit to the 387 At-Risk month-to-month accounts who transition to a secure 1-year agreement.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5760" y="2350008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122636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2578608"/>
            <a:ext cx="713232" cy="71323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670048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48716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Reduction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2862072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complimentary digital safety add-ons (Online Security / Tech Support trials) into high-tier billing brackets to build long-term account value.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65760" y="3694176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122636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3922776"/>
            <a:ext cx="713232" cy="71323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014216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831336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CRM Alerts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4206240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the generated customer_segments_manifest.csv into your CRM to trigger loyalty interventions the moment an account's probability score crosses the 60% threshold.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2286000" y="466344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</a:rPr>
              <a:t>Ready to Deploy  ·  Model Accuracy: 76.79%  ·  Churn Recall: 73.00%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419</Words>
  <Application>Microsoft Office PowerPoint</Application>
  <PresentationFormat>On-screen Show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Ishan Pote</cp:lastModifiedBy>
  <cp:revision>4</cp:revision>
  <dcterms:created xsi:type="dcterms:W3CDTF">2026-06-19T14:31:42Z</dcterms:created>
  <dcterms:modified xsi:type="dcterms:W3CDTF">2026-06-19T14:49:43Z</dcterms:modified>
</cp:coreProperties>
</file>